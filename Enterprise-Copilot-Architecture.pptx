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1A1A1A"/>
                </a:solidFill>
                <a:latin typeface="Calibri"/>
              </a:rPr>
              <a:t>Enterprise Copilot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0">
                <a:solidFill>
                  <a:srgbClr val="404040"/>
                </a:solidFill>
                <a:latin typeface="Calibri"/>
              </a:rPr>
              <a:t>End-to-end architecture walkthrough — agents, RAG, streaming, guardrails, HITL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F6FED"/>
                </a:solidFill>
                <a:latin typeface="Calibri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Problem, objective, and the solution shape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System architecture and the two boundaries that hold it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Agent architecture — routing, AutoGen constructors, MCP tools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Streaming: what actually happens token by token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RAG pipeline — ingestion, hybrid retrieval, fusion, rerank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Guardrails, HITL, observability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Limits we chose on purpose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F6FED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Enterprise assistants need private knowledge, not just a foundation model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Answers without citations are unusable where correctness is auditable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Model/vendor choice changes; application code should not change with it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Agent code that executes actions needs human oversight before it runs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Demos that need API keys, GPUs, or a vector DB cluster never get evaluated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F6FED"/>
                </a:solidFill>
                <a:latin typeface="Calibri"/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Run end to end with zero configuration — no key, no download, no service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Ground answers in uploaded documents and cite them per chunk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Keep every vendor behind an interface with an offline terminal fallback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Gate risky actions behind explicit human approval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Stay minimal: readable files, no build step, 242 passing tests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F6FED"/>
                </a:solidFill>
                <a:latin typeface="Calibri"/>
              </a:rPr>
              <a:t>Solution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FastAPI + Pydantic backend; Bootstrap SPA frontend, no build step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AutoGen agents confined to two files behind AgentOrchestrator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Provider chains: Gemini / Ollama / mock, each degrading gracefully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In-memory RAG store with hybrid retrieval and per-chunk citations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37 POST endpoints, Pydantic-validated, no query-parameter behavior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F6FED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static/ SPA calls POST /api/* — routes.py is transport only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CopilotService (services.py) is the composition root owning every store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AgentOrchestrator is the contract; AutoGenOrchestrator is the implementation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providers.py resolves models; retrieval.py holds pure RAG algorithms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Nothing outside agents.py, streaming.py, hitl_agents.py imports autogen_agentchat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F6FED"/>
                </a:solidFill>
                <a:latin typeface="Calibri"/>
              </a:rPr>
              <a:t>The Two Boundaries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Boundary 1 — orchestrator: app code depends on AgentOrchestrator, never AutoGen types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A future MAF migration replaces the implementation; routes, services, UI unchanged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Boundary 2 — providers: AIProvider and EmbeddingProvider are fallback chains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Every chain ends in an always-available offline implementation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Result: a missing key degrades quality, never availability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F6FED"/>
                </a:solidFill>
                <a:latin typeface="Calibri"/>
              </a:rPr>
              <a:t>Components: Backend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agents.py — orchestrator, agent/skill registries, tool-calling loop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streaming.py — real AutoGen streaming team, cancellation, model client factory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retrieval.py — chunking, hash embedding, BM25, RRF, reranker (pure, no state)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services.py — CopilotService, RAGStore, GuardrailService, HitlService, SessionStore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providers.py, memory.py, sandbox.py, mcp_tools.py, observability.py, extraction.py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F6FED"/>
                </a:solidFill>
                <a:latin typeface="Calibri"/>
              </a:rPr>
              <a:t>Agent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Four agents: research-agent, coding-agent, data-analysis-agent, general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Primary router is an LLM — AgentRegistry.select_llm, configurable model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Keyword matching is the fallback when the key is unset, the call fails, or parsing fails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Routing never breaks chat — every failure path lands on deterministic selection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Skills attach to agents; knowledge-rag can also be added dynamically by relevance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F6FED"/>
                </a:solidFill>
                <a:latin typeface="Calibri"/>
              </a:rPr>
              <a:t>AutoGen Constructors We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AssistantAgent — both the streaming path and the tool-calling path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RoundRobinGroupChat — one-agent team wrapping the streaming assistant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MaxMessageTermination(2) — task message plus one agent turn, then stop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UserProxyAgent — represents the human reviewer in the HITL approval flow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CodeExecutorAgent — the one place approved code actually executes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CancellationToken — genuinely aborts the in-flight HTTPS call, not a polite flag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F6FED"/>
                </a:solidFill>
                <a:latin typeface="Calibri"/>
              </a:rPr>
              <a:t>Tool-Calling 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AssistantAgent(name, model_client, tools, model_context, system_message)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reflect_on_tool_use=True — the model reasons over tool results before answering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max_tool_iterations=4 — bounded loop so a reformulating model cannot spin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Agent names sanitized to Python identifiers; the API keeps the original name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on_messages_stream surfaces every ToolCallRequestEvent as a real progress event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F6FED"/>
                </a:solidFill>
                <a:latin typeface="Calibri"/>
              </a:rPr>
              <a:t>Streaming: What Is Going 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build_streaming_model_client resolves provider and model from settings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AssistantAgent(model_client_stream=True) emits token-level chunks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RoundRobinGroupChat(emit_team_events=True) exposes team-level lifecycle events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team.run_stream() is iterated; ModelClientStreamingChunkEvent becomes a delta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TaskResult is skipped — the caller already has the text from the deltas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F6FED"/>
                </a:solidFill>
                <a:latin typeface="Calibri"/>
              </a:rPr>
              <a:t>SSE Event Envelope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model_info — provider and model, sent before the first token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status/model_call_started — carries system_preview and prompt_preview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status/thinking, then a stream of delta events carrying text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team_event — event type and source, shown for transparency, not as content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memory_state at the end; cancelled and error are terminal, never a crash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F6FED"/>
                </a:solidFill>
                <a:latin typeface="Calibri"/>
              </a:rPr>
              <a:t>Memory and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CompactingChatCompletionContext replaces a hard recent-N-turns window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Recent turns kept verbatim; older turns compact-summarized, not dropped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Full transcript seeds the agent via initial_messages, not replayed as tasks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Long sessions degrade gracefully instead of silently losing context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memory_state round-trips through the client so sessions survive reconnects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F6FED"/>
                </a:solidFill>
                <a:latin typeface="Calibri"/>
              </a:rPr>
              <a:t>MCP Tool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Bundled local stdio server — general-purpose sandboxed utility tools, on by default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Optional remote server over streamable-http with configurable headers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get_mcp_tools(web_search=...) decides per turn which tools exist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Every server is a graceful no-op when unavailable — never a failed request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Tools are real: a reported tool call actually ran, it is not a fabricated claim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F6FED"/>
                </a:solidFill>
                <a:latin typeface="Calibri"/>
              </a:rPr>
              <a:t>Web Search — Tavily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FastMCP stdio server exposing a single web_search tool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Loads only when TAVILY_API_KEY is set AND the turn's Web Search toggle is on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API key comes from the subprocess env, never echoed into a result or error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Returns JSON: {query, results:[{title, url, content}]}, search_depth basic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Orchestrator parses ToolCallExecutionEvent for the exact sources the model saw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UI renders real clickable citations — not a separately re-run search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F6FED"/>
                </a:solidFill>
                <a:latin typeface="Calibri"/>
              </a:rPr>
              <a:t>RAG: Ingestion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extract, clean, chunk, metadata, embed, index — one _reindex() call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Runs on add and update alike, so there is no separate re-index API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Chunking: paragraph-first, sentence fallback, 600 chars, 80-char overlap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Filename folded into the embedded text but not the stored snippet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One embed call writes both the vector store and the BM25 index in lockstep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F6FED"/>
                </a:solidFill>
                <a:latin typeface="Calibri"/>
              </a:rPr>
              <a:t>RAG: Embedding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Default is the hashing trick — SHA-1 buckets, signed, L2-normalized, 256-dim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SHA-1 not hash(): Python's hash is salted per process, so it is not durable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It is a lexical vector, not semantic — it will not match car to automobile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Configured mode: Ollama nomic-embed-text, then Gemini, then hash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Dimension guard in search() prevents comparing incompatible vector spaces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F6FED"/>
                </a:solidFill>
                <a:latin typeface="Calibri"/>
              </a:rPr>
              <a:t>RAG: Hybrid Retrieval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Dense leg — cosine over every chunk, exhaustive scan, top 8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Sparse leg — BM25Okapi, k1=1.5, b=0.75, top 8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Reciprocal rank fusion at k=60 merges by rank, discarding raw score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Why RRF: cosine is bounded, BM25 is unbounded and corpus-dependent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Rerank on coverage and density — a signal neither retrieval leg used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Funnel: 8 + 8 candidates, fused pool of 8, final top 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F6FED"/>
                </a:solidFill>
                <a:latin typeface="Calibri"/>
              </a:rPr>
              <a:t>RAG: Grounding and Citation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Every turn searches the knowledge base, not only research-agent turns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Relevance gate: bm25_score &gt; 0 AND rerank_score &gt;= 0.15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bm25_score &gt; 0 is the real filter — the weak embedder cannot be trusted alone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Auto-grounding may only upgrade the general agent, never relabel an explicit choice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Prompt is deliberately permissive: use and cite it, or ignore it and answer anyway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Citations render as [filename#chunk_index]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F6FED"/>
                </a:solidFill>
                <a:latin typeface="Calibri"/>
              </a:rPr>
              <a:t>Guardrails — Three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check_input on the user message — direct prompt injection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check_context on retrieved chunks — indirect injection from a poisoned document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check_output on the model reply — secret-shaped content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Flagged chunks are dropped from both the context and the citations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State is visible in the UI on every turn; messages never leak policies or secrets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F6FED"/>
                </a:solidFill>
                <a:latin typeface="Calibri"/>
              </a:rPr>
              <a:t>HITL — Human in the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HitlService owns the records: WAITING_FOR_APPROVAL, APPROVED, REJECTED, COMPLETED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await_human_decision() wraps a real UserProxyAgent whose input_func bridges to the queue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This is AutoGen's documented FastAPI integration pattern, adapted to queue-then-decide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run_approved_code() executes through CodeExecutorAgent wrapping SandboxCodeExecutor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One execution path only — approved code never runs via a bare sandbox call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REST surface (/api/hitl/*) is unchanged; AutoGen sits underneath it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F6FED"/>
                </a:solidFill>
                <a:latin typeface="Calibri"/>
              </a:rPr>
              <a:t>Sandbox Posture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SandboxCodeExecutor adapts CodeSandbox to AutoGen's CodeExecutor protocol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Fresh temp workspace per run, scrubbed environment, timeout, output cap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Stateless per call — nothing persists or restarts between executions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Rich ExecutionResult is preserved for the UI, not flattened to AutoGen's CodeResult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Stated plainly: development-only, not a production security boundary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F6FED"/>
                </a:solidFill>
                <a:latin typeface="Calibri"/>
              </a:rPr>
              <a:t>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Optional Langfuse tracing — one trace per chat turn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Tracer yields a TurnHandle carrying events, generations, and final output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_NullSpan makes the whole layer a no-op when unconfigured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Zero branching at call sites — instrumented code reads the same either way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Status is queryable at POST /api/observability/status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F6FED"/>
                </a:solidFill>
                <a:latin typeface="Calibri"/>
              </a:rPr>
              <a:t>Feature Surface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Chat: streaming with mid-turn cancellation, plus a non-streaming path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Knowledge: add, list, view, edit, update, delete, immediate re-index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PDF ingestion; encrypted and image-only files rejected, never silently empty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Multimodal — images attached to a turn via MultiModalMessage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Skill packages: upload, run interactively, download artifacts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Bundled skills: docx-generator, ppt-generator, brd-prd-generator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F6FED"/>
                </a:solidFill>
                <a:latin typeface="Calibri"/>
              </a:rPr>
              <a:t>Limits We Chose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Vector store is an in-memory dict with an exhaustive scan — exact, not scalable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Nothing persists across a restart except the bootstrap document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BM25 recomputes corpus statistics per query — correctness over incremental state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Default embedder is lexical; the reranker is a heuristic, not a cross-encoder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Single-process only — two workers would mean two divergent indexes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Each limit sits behind the interface its replacement would use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F6FED"/>
                </a:solidFill>
                <a:latin typeface="Calibri"/>
              </a:rPr>
              <a:t>What Holds It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Every vendor sits behind an interface ending in an offline fallback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AutoGen is confined to three files and one contract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The compromises are coupled — the weak embedder explains the gate, the chunker, the prompt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Upgrading one component should trigger a revisit of the others</a:t>
            </a:r>
          </a:p>
          <a:p>
            <a:pPr/>
            <a:r>
              <a:rPr sz="2000" b="0">
                <a:solidFill>
                  <a:srgbClr val="404040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